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66" r:id="rId7"/>
    <p:sldId id="267" r:id="rId8"/>
    <p:sldId id="268" r:id="rId9"/>
    <p:sldId id="263" r:id="rId10"/>
    <p:sldId id="264" r:id="rId11"/>
    <p:sldId id="265" r:id="rId12"/>
    <p:sldId id="260" r:id="rId13"/>
    <p:sldId id="261" r:id="rId14"/>
    <p:sldId id="262" r:id="rId15"/>
    <p:sldId id="257" r:id="rId16"/>
    <p:sldId id="258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7B1BE-17E3-50DB-EFF6-638968BE2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C5449-4936-B20F-8831-5A9437552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DFFB1-11BF-05BB-F010-E4C58DCDD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FBB0-C3A4-460D-A913-0E0A67812DD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1B3EF-38DA-4606-8716-D5E7AE17B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5704E-4CB8-062A-24DF-B7DCFA1A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30B8-D3AA-416E-B41E-5986702966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53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E616C-FD72-7259-961A-8E908FF3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59826-DF8F-91AE-4E48-86FA5646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8A7DD-0BA5-E382-FDCA-E9B120B76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FBB0-C3A4-460D-A913-0E0A67812DD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65388-29A5-1EFB-E66D-81E1BA17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DA453-B43D-BC10-EFC2-8B4DA40E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30B8-D3AA-416E-B41E-5986702966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58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3D7B2-B4A3-63E2-689D-38319642D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0E4FB-7737-C09E-F337-37E5FB356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4CFD0-E806-0B4F-EFF9-0C598494F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FBB0-C3A4-460D-A913-0E0A67812DD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04AC1-5E2A-5AA0-A87F-0D06B3EC2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11253-B35F-1F8C-D943-1616B817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30B8-D3AA-416E-B41E-5986702966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35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A87B-3145-D1B7-0B42-87453F598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020FB-F7AF-27F8-B5DA-5FA0C8D61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ED1D6-BB95-A06E-FF77-B339D0AEB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16DAE-1DBA-2A48-2D1D-0BFAA107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FBB0-C3A4-460D-A913-0E0A67812DD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22BBE-4068-9B10-E470-009AB7F87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BB76B-04D2-A1E5-FD32-A5D3B12E2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30B8-D3AA-416E-B41E-5986702966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81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429FC-8CF1-3E93-F35B-2BFDE439D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A2CAA-EFFA-6364-4AA7-729DA1223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DBDF9-B33A-C843-4DB5-2395683EE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8140B4-B6A6-4835-C5FE-F981FC504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48B1BB-6090-B6F6-4943-EB7173581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539CE-6DE5-B558-8809-B9D2ABC90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FBB0-C3A4-460D-A913-0E0A67812DD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3B9EA7-0B63-6B1C-A74C-7799E898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E456A3-284F-8AEC-A903-368F152D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30B8-D3AA-416E-B41E-5986702966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206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F24E1-71B4-323C-FE59-4CF4C0FE6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3E5270-1C55-DD18-B42B-EDE308EB7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FBB0-C3A4-460D-A913-0E0A67812DD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C8563-5B1D-A9E1-E4A9-962E34DB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DD48FC-49D0-9E32-3E09-882D6B16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30B8-D3AA-416E-B41E-5986702966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1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6A9C36-22CB-D586-153C-C43A2CCB2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FBB0-C3A4-460D-A913-0E0A67812DD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CECE99-793D-DD53-A88D-9A6A90C7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FB3C4-8BC0-4C75-9FF5-B403E26D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30B8-D3AA-416E-B41E-5986702966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64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F3B9A-5F1E-40FB-AEFE-461AAEAB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7F98-93A5-A0EF-D873-60ABB1228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70D23-1A0F-D698-BBF8-7946BB98E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CD56E-5C7F-4C89-6840-52E0DDA2C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FBB0-C3A4-460D-A913-0E0A67812DD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A4A9F-D574-C22C-1E56-89022D0B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0EFFE-C7CB-CDD7-4298-FAECD1CA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30B8-D3AA-416E-B41E-5986702966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67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3967D-DCA6-8E9B-E0EA-D92158F1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72E11E-38A6-92C5-003B-9D90967B4B7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BE8E3-C0E6-D790-D85D-0BDE4A756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3E664-0500-2FB7-10BA-1DEAAC63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FBB0-C3A4-460D-A913-0E0A67812DD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A987B-71B9-922D-B4D7-45AA05F00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18F39-2750-2268-7059-6233F5EA8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30B8-D3AA-416E-B41E-5986702966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333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0583-D38A-E44E-FF01-6AFACC1B4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4C1B7-2CBA-B460-E67C-B17462993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6FE19-4371-D652-A59D-3F2EBD9E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FBB0-C3A4-460D-A913-0E0A67812DD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6C1BD-FD52-A0A0-2E2B-DEAAA6B2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86834-9F63-EB1B-8ED8-1E7F4337B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30B8-D3AA-416E-B41E-5986702966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1DBE35-6E8E-AC20-F7B9-CF25B264F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D5F02-E7EC-ADDF-CE25-FBA0EB069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663EA-0D7F-7EA8-13C3-51BCA950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FBB0-C3A4-460D-A913-0E0A67812DD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25468-6E9E-C362-605E-AF2B84366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62A39-5C1B-F61D-AFC3-C93904B8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30B8-D3AA-416E-B41E-5986702966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54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17E61E-3EF8-729F-653C-87320B770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0D706-8757-C9EE-C5EB-8D14802FE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898D9-BBE4-8A32-2D29-71A890DF8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8FBB0-C3A4-460D-A913-0E0A67812DD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BF9B8-4999-A34F-4A51-9895C4D89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80B9C-88F6-863A-6559-9E62B2EA9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030B8-D3AA-416E-B41E-5986702966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71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40FD-7E23-A009-FF19-9E35934FBC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Manufacturing Quality Improvement Through Defect Analysis and Process Improvement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661698-4C7C-7293-5386-CF08C5DB99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Chitra Shree</a:t>
            </a:r>
          </a:p>
          <a:p>
            <a:r>
              <a:rPr lang="en-I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Lean Six Sigma Green Belt Project</a:t>
            </a:r>
          </a:p>
        </p:txBody>
      </p:sp>
    </p:spTree>
    <p:extLst>
      <p:ext uri="{BB962C8B-B14F-4D97-AF65-F5344CB8AC3E}">
        <p14:creationId xmlns:p14="http://schemas.microsoft.com/office/powerpoint/2010/main" val="257997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85985-37F9-1481-203B-B5B0E0626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DEFINE</a:t>
            </a:r>
            <a:r>
              <a:rPr lang="en-IN" dirty="0"/>
              <a:t> - </a:t>
            </a:r>
            <a:r>
              <a:rPr lang="en-IN" b="1" dirty="0"/>
              <a:t>Problem &amp; Goal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D2B58-3DD8-1FED-9783-3E0495049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Problem Statement:</a:t>
            </a:r>
            <a:r>
              <a:rPr lang="en-IN" sz="2400" dirty="0"/>
              <a:t> Manufacturing unit is experiencing a high defect status, the production data reveals that 84.04% of units are classified under high-defect status, with an average defect rate of 2.75 defects per thousand units (range: 0.50–4.99). This indicates a significant and recurring quality issue across production operations, impacting cost, customer satisfaction and operational efficiency.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Goal Statement:</a:t>
            </a:r>
            <a:r>
              <a:rPr lang="en-IN" sz="2400" dirty="0"/>
              <a:t> Reduce the proportion of high-defect-status units from 84.04% to a target of 60% (or reduce average defect rate from 2.75 to 2.0 defects/thousand units) by identifying and addressing the key operational drivers contributing to defects, using a data-driven DMAIC approach.</a:t>
            </a:r>
          </a:p>
          <a:p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02073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7B34-A906-C8A7-9752-75220D37F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DEFINE</a:t>
            </a:r>
            <a:r>
              <a:rPr lang="en-IN" dirty="0"/>
              <a:t> - </a:t>
            </a:r>
            <a:r>
              <a:rPr lang="en-IN" b="1" dirty="0"/>
              <a:t>Business Case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542C9-7959-E38A-F3D5-B5E6AF259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112"/>
            <a:ext cx="10515600" cy="2517775"/>
          </a:xfrm>
        </p:spPr>
        <p:txBody>
          <a:bodyPr>
            <a:normAutofit/>
          </a:bodyPr>
          <a:lstStyle/>
          <a:p>
            <a:r>
              <a:rPr lang="en-IN" sz="2400" dirty="0"/>
              <a:t>High defect rates increase rework, scrap, warranty claims and delivery delays raising the cost of poor quality and risking customer confidence</a:t>
            </a:r>
          </a:p>
          <a:p>
            <a:r>
              <a:rPr lang="en-IN" sz="2400" dirty="0"/>
              <a:t>Reducing defects improves first-pass yield, lowers production cost and strengthens delivery reliability</a:t>
            </a:r>
          </a:p>
          <a:p>
            <a:r>
              <a:rPr lang="en-IN" sz="2400" dirty="0"/>
              <a:t>This project targets a reduction in average defect rate from 2.75 to 2.0 defects per 1000 units</a:t>
            </a:r>
          </a:p>
        </p:txBody>
      </p:sp>
    </p:spTree>
    <p:extLst>
      <p:ext uri="{BB962C8B-B14F-4D97-AF65-F5344CB8AC3E}">
        <p14:creationId xmlns:p14="http://schemas.microsoft.com/office/powerpoint/2010/main" val="6172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9C1F-3F32-EB57-33F5-FDA8BC866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347"/>
            <a:ext cx="10515600" cy="83305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+mn-lt"/>
              </a:rPr>
              <a:t>DEFINE</a:t>
            </a:r>
            <a:r>
              <a:rPr lang="en-IN" sz="3600" dirty="0"/>
              <a:t> - </a:t>
            </a:r>
            <a:r>
              <a:rPr lang="en-IN" sz="3600" b="1" dirty="0"/>
              <a:t>CTQ </a:t>
            </a:r>
            <a:r>
              <a:rPr lang="en-IN" sz="3200" b="1" dirty="0"/>
              <a:t>(Critical to Quality) Tree</a:t>
            </a:r>
            <a:endParaRPr lang="en-IN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868198-8A16-C83D-6EAD-6FE2B49238A9}"/>
              </a:ext>
            </a:extLst>
          </p:cNvPr>
          <p:cNvSpPr/>
          <p:nvPr/>
        </p:nvSpPr>
        <p:spPr>
          <a:xfrm>
            <a:off x="3888827" y="953814"/>
            <a:ext cx="4414345" cy="425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Customer Need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1417C8-DC66-91F4-F687-05A92DAB13C2}"/>
              </a:ext>
            </a:extLst>
          </p:cNvPr>
          <p:cNvSpPr/>
          <p:nvPr/>
        </p:nvSpPr>
        <p:spPr>
          <a:xfrm>
            <a:off x="3888826" y="1379483"/>
            <a:ext cx="4414345" cy="4256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Reliable, defect free products with consistent quality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5FA9F2-13AA-53E0-EF85-6D3F3F125B67}"/>
              </a:ext>
            </a:extLst>
          </p:cNvPr>
          <p:cNvSpPr/>
          <p:nvPr/>
        </p:nvSpPr>
        <p:spPr>
          <a:xfrm>
            <a:off x="5142184" y="2159875"/>
            <a:ext cx="1907628" cy="425669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Quality Driver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28D3BB-3000-7D53-B4A8-6F87D9BB4DD7}"/>
              </a:ext>
            </a:extLst>
          </p:cNvPr>
          <p:cNvSpPr/>
          <p:nvPr/>
        </p:nvSpPr>
        <p:spPr>
          <a:xfrm>
            <a:off x="3531476" y="2956034"/>
            <a:ext cx="2278117" cy="425669"/>
          </a:xfrm>
          <a:prstGeom prst="rect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Low Defect Occurrence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42EC4-D8C6-B3DC-7B6E-6A4B416CE521}"/>
              </a:ext>
            </a:extLst>
          </p:cNvPr>
          <p:cNvSpPr/>
          <p:nvPr/>
        </p:nvSpPr>
        <p:spPr>
          <a:xfrm>
            <a:off x="6521670" y="2956033"/>
            <a:ext cx="2278117" cy="425669"/>
          </a:xfrm>
          <a:prstGeom prst="rect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Fewer high-defect Batches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366D658-55C3-CC71-26EC-C26F99D30CF1}"/>
              </a:ext>
            </a:extLst>
          </p:cNvPr>
          <p:cNvSpPr/>
          <p:nvPr/>
        </p:nvSpPr>
        <p:spPr>
          <a:xfrm>
            <a:off x="5142184" y="3736425"/>
            <a:ext cx="1907628" cy="42566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CTQ Metric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9C1667-0611-4921-08D0-B2A4361F5E28}"/>
              </a:ext>
            </a:extLst>
          </p:cNvPr>
          <p:cNvSpPr/>
          <p:nvPr/>
        </p:nvSpPr>
        <p:spPr>
          <a:xfrm>
            <a:off x="3168868" y="4532584"/>
            <a:ext cx="2640726" cy="425669"/>
          </a:xfrm>
          <a:prstGeom prst="rect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DefectRate</a:t>
            </a:r>
            <a:r>
              <a:rPr lang="en-IN" sz="1400" dirty="0"/>
              <a:t> &lt;= 2.0 per 1000 units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4D4669-4571-2CC0-8849-B9772CC0EC24}"/>
              </a:ext>
            </a:extLst>
          </p:cNvPr>
          <p:cNvSpPr/>
          <p:nvPr/>
        </p:nvSpPr>
        <p:spPr>
          <a:xfrm>
            <a:off x="6521670" y="4532583"/>
            <a:ext cx="2278117" cy="425669"/>
          </a:xfrm>
          <a:prstGeom prst="rect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High-defect share &lt;= 60%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0A2AE0B-99EE-8314-7309-531BF3270578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6095998" y="1805152"/>
            <a:ext cx="1" cy="354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CF4AB02-FE57-C2CF-0EEF-6F51134D9FCC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5198022" y="2058058"/>
            <a:ext cx="370490" cy="14254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78EB024-3DD6-3139-20E5-3D8FC66223AF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6693119" y="1988422"/>
            <a:ext cx="370489" cy="15647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15739781-6987-548A-4645-962687E8605B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 rot="5400000">
            <a:off x="5107370" y="3543956"/>
            <a:ext cx="370490" cy="16067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711098B8-E2CC-4951-B413-38B031FAA940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 rot="16200000" flipH="1">
            <a:off x="6693119" y="3564972"/>
            <a:ext cx="370489" cy="15647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D4BEBC9-118A-9FE9-7ADC-E0A6D74921DC}"/>
              </a:ext>
            </a:extLst>
          </p:cNvPr>
          <p:cNvSpPr/>
          <p:nvPr/>
        </p:nvSpPr>
        <p:spPr>
          <a:xfrm>
            <a:off x="718643" y="5312972"/>
            <a:ext cx="10754710" cy="1190297"/>
          </a:xfrm>
          <a:prstGeom prst="round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Goal: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 average defect rate </a:t>
            </a:r>
            <a:r>
              <a:rPr lang="en-IN"/>
              <a:t>from 2.75 </a:t>
            </a:r>
            <a:r>
              <a:rPr lang="en-IN" dirty="0"/>
              <a:t>to 2.0 per 1000 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 the proportion of high-defect-status units from 84% to a target of 60%</a:t>
            </a:r>
          </a:p>
        </p:txBody>
      </p:sp>
    </p:spTree>
    <p:extLst>
      <p:ext uri="{BB962C8B-B14F-4D97-AF65-F5344CB8AC3E}">
        <p14:creationId xmlns:p14="http://schemas.microsoft.com/office/powerpoint/2010/main" val="178538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B3444-3F40-459C-A660-63734388F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DEFINE</a:t>
            </a:r>
            <a:r>
              <a:rPr lang="en-IN" dirty="0"/>
              <a:t> - </a:t>
            </a:r>
            <a:r>
              <a:rPr lang="en-IN" b="1" dirty="0"/>
              <a:t>SIPOC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67CAA8-38BF-7349-6586-CD6B9A6BC101}"/>
              </a:ext>
            </a:extLst>
          </p:cNvPr>
          <p:cNvGraphicFramePr>
            <a:graphicFrameLocks noGrp="1"/>
          </p:cNvGraphicFramePr>
          <p:nvPr/>
        </p:nvGraphicFramePr>
        <p:xfrm>
          <a:off x="1193142" y="1690688"/>
          <a:ext cx="9805715" cy="3996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1143">
                  <a:extLst>
                    <a:ext uri="{9D8B030D-6E8A-4147-A177-3AD203B41FA5}">
                      <a16:colId xmlns:a16="http://schemas.microsoft.com/office/drawing/2014/main" val="2968562101"/>
                    </a:ext>
                  </a:extLst>
                </a:gridCol>
                <a:gridCol w="1961143">
                  <a:extLst>
                    <a:ext uri="{9D8B030D-6E8A-4147-A177-3AD203B41FA5}">
                      <a16:colId xmlns:a16="http://schemas.microsoft.com/office/drawing/2014/main" val="3851267432"/>
                    </a:ext>
                  </a:extLst>
                </a:gridCol>
                <a:gridCol w="1961143">
                  <a:extLst>
                    <a:ext uri="{9D8B030D-6E8A-4147-A177-3AD203B41FA5}">
                      <a16:colId xmlns:a16="http://schemas.microsoft.com/office/drawing/2014/main" val="1045595362"/>
                    </a:ext>
                  </a:extLst>
                </a:gridCol>
                <a:gridCol w="1961143">
                  <a:extLst>
                    <a:ext uri="{9D8B030D-6E8A-4147-A177-3AD203B41FA5}">
                      <a16:colId xmlns:a16="http://schemas.microsoft.com/office/drawing/2014/main" val="4187016386"/>
                    </a:ext>
                  </a:extLst>
                </a:gridCol>
                <a:gridCol w="1961143">
                  <a:extLst>
                    <a:ext uri="{9D8B030D-6E8A-4147-A177-3AD203B41FA5}">
                      <a16:colId xmlns:a16="http://schemas.microsoft.com/office/drawing/2014/main" val="1065593516"/>
                    </a:ext>
                  </a:extLst>
                </a:gridCol>
              </a:tblGrid>
              <a:tr h="49864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Suppliers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378867"/>
                  </a:ext>
                </a:extLst>
              </a:tr>
              <a:tr h="874559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Raw Material 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Materials (</a:t>
                      </a:r>
                      <a:r>
                        <a:rPr lang="en-IN" sz="1600" dirty="0" err="1"/>
                        <a:t>SupplierQuality</a:t>
                      </a:r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Production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Finished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End Customers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437864"/>
                  </a:ext>
                </a:extLst>
              </a:tr>
              <a:tr h="874559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Maintenance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Machine Availability (</a:t>
                      </a:r>
                      <a:r>
                        <a:rPr lang="en-IN" sz="1600" dirty="0" err="1"/>
                        <a:t>MaintenanceHours</a:t>
                      </a:r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Manufacturing /assembly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Defect-free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Downstream Assembly / OEMs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915333"/>
                  </a:ext>
                </a:extLst>
              </a:tr>
              <a:tr h="874559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Logistics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Delivery Schedules (</a:t>
                      </a:r>
                      <a:r>
                        <a:rPr lang="en-IN" sz="1600" dirty="0" err="1"/>
                        <a:t>DeliveryDelay</a:t>
                      </a:r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Quality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Quality Reports (</a:t>
                      </a:r>
                      <a:r>
                        <a:rPr lang="en-IN" sz="1600" dirty="0" err="1"/>
                        <a:t>DefectRate</a:t>
                      </a:r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Quality &amp; Operations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1690"/>
                  </a:ext>
                </a:extLst>
              </a:tr>
              <a:tr h="874559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Workforce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Labor (</a:t>
                      </a:r>
                      <a:r>
                        <a:rPr lang="en-IN" sz="1600" dirty="0" err="1"/>
                        <a:t>WorkerProductivity</a:t>
                      </a:r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Packaging and Dispatch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Shipped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267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698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E5777-6234-A743-DAD1-2971E6B14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MEASURE</a:t>
            </a:r>
            <a:r>
              <a:rPr lang="en-IN" dirty="0"/>
              <a:t> - </a:t>
            </a:r>
            <a:r>
              <a:rPr lang="en-IN" b="1" dirty="0"/>
              <a:t>Data Collection Plan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2F956-3D90-043F-735C-A71809D42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Source: Kaggle, synthetic manufacturing dataset</a:t>
            </a:r>
          </a:p>
          <a:p>
            <a:r>
              <a:rPr lang="en-IN" dirty="0"/>
              <a:t>3240 production records, 17 variables, no missing values, no duplicates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197751-EB20-1A14-62D4-83E9DAA4805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628404"/>
          <a:ext cx="81280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139185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33196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Output 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Input 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74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Primary: </a:t>
                      </a:r>
                      <a:r>
                        <a:rPr lang="en-IN" dirty="0" err="1"/>
                        <a:t>DefectRate</a:t>
                      </a:r>
                      <a:endParaRPr lang="en-IN" dirty="0"/>
                    </a:p>
                    <a:p>
                      <a:r>
                        <a:rPr lang="en-IN" dirty="0"/>
                        <a:t>Secondary: </a:t>
                      </a:r>
                      <a:r>
                        <a:rPr lang="en-IN" dirty="0" err="1"/>
                        <a:t>DefectStatus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SupplierQuality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DeliveryDelay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MaintenanceHours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DowntimePercentage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WorkerProductivity</a:t>
                      </a:r>
                      <a:r>
                        <a:rPr lang="en-IN" dirty="0"/>
                        <a:t>, etc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496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1624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5F3B4-2F34-1BB6-B3DE-93C7A927E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MEASURE</a:t>
            </a:r>
            <a:r>
              <a:rPr lang="en-IN" dirty="0"/>
              <a:t> - </a:t>
            </a:r>
            <a:r>
              <a:rPr lang="en-IN" b="1" dirty="0"/>
              <a:t>Baseline Performance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1F9FA0-7D44-1DBF-FCA1-2E727DAB1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 err="1"/>
              <a:t>DefectRate</a:t>
            </a:r>
            <a:r>
              <a:rPr lang="en-IN" sz="1800" dirty="0"/>
              <a:t> </a:t>
            </a:r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r>
              <a:rPr lang="en-IN" sz="1800" dirty="0"/>
              <a:t>84.04% of records high-defect, 15.96% low-defect</a:t>
            </a:r>
          </a:p>
          <a:p>
            <a:r>
              <a:rPr lang="en-IN" sz="1800" dirty="0"/>
              <a:t>33.83% of all records are at or below the target 2.0 this indicates approx. 1 in 3 records already meet target, goal is achievable through consistency</a:t>
            </a:r>
          </a:p>
          <a:p>
            <a:r>
              <a:rPr lang="en-IN" sz="1800" dirty="0"/>
              <a:t>Baseline process capability is approx. 4.28sigma (2749 DPMO) indicating room for improvement toward the target of reduced defect variation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CB481A5A-A9C8-FAF7-61E5-F583F724E223}"/>
              </a:ext>
            </a:extLst>
          </p:cNvPr>
          <p:cNvGraphicFramePr>
            <a:graphicFrameLocks/>
          </p:cNvGraphicFramePr>
          <p:nvPr/>
        </p:nvGraphicFramePr>
        <p:xfrm>
          <a:off x="838200" y="5064443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064729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31698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362047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82122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DefectStatus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Avg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DefectRate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602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 (low)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06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 (high)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58562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2B88A00-17F3-AB93-2ABE-3F8E34400F53}"/>
              </a:ext>
            </a:extLst>
          </p:cNvPr>
          <p:cNvGraphicFramePr>
            <a:graphicFrameLocks noGrp="1"/>
          </p:cNvGraphicFramePr>
          <p:nvPr/>
        </p:nvGraphicFramePr>
        <p:xfrm>
          <a:off x="1164896" y="2250243"/>
          <a:ext cx="812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353807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112309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760906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28853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549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0.50 to 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473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643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53BD-2F67-B9AE-62AD-FB492849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960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+mn-lt"/>
              </a:rPr>
              <a:t>MEASURE</a:t>
            </a:r>
            <a:r>
              <a:rPr lang="en-IN" dirty="0"/>
              <a:t> - </a:t>
            </a:r>
            <a:r>
              <a:rPr lang="en-IN" b="1" dirty="0"/>
              <a:t>Distribution Chart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8607F6-92BE-A3E6-E409-5F036726B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068" y="1690688"/>
            <a:ext cx="5531864" cy="37409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952145-0918-8FAA-DBCB-11BE66B78C6B}"/>
              </a:ext>
            </a:extLst>
          </p:cNvPr>
          <p:cNvSpPr txBox="1"/>
          <p:nvPr/>
        </p:nvSpPr>
        <p:spPr>
          <a:xfrm>
            <a:off x="1725829" y="5517931"/>
            <a:ext cx="8740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DefectRate</a:t>
            </a:r>
            <a:r>
              <a:rPr lang="en-IN" dirty="0"/>
              <a:t> varies widely across production records (0.5 to 5.0) with no stable central value,</a:t>
            </a:r>
          </a:p>
          <a:p>
            <a:r>
              <a:rPr lang="en-IN" dirty="0"/>
              <a:t>indicating an unstable process with high variability.</a:t>
            </a:r>
          </a:p>
        </p:txBody>
      </p:sp>
    </p:spTree>
    <p:extLst>
      <p:ext uri="{BB962C8B-B14F-4D97-AF65-F5344CB8AC3E}">
        <p14:creationId xmlns:p14="http://schemas.microsoft.com/office/powerpoint/2010/main" val="4135747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69C0-403F-9C3E-7DAE-D087E5F5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012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+mn-lt"/>
              </a:rPr>
              <a:t>ANALYZE</a:t>
            </a:r>
            <a:r>
              <a:rPr lang="en-IN" sz="4000" dirty="0"/>
              <a:t> - </a:t>
            </a:r>
            <a:r>
              <a:rPr lang="en-IN" sz="4000" b="1" dirty="0"/>
              <a:t>Correlation &amp; Regression Findings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46537-A267-1697-2370-E01D89DDF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575"/>
            <a:ext cx="10515600" cy="4351338"/>
          </a:xfrm>
        </p:spPr>
        <p:txBody>
          <a:bodyPr/>
          <a:lstStyle/>
          <a:p>
            <a:pPr algn="just"/>
            <a:r>
              <a:rPr lang="en-IN" dirty="0"/>
              <a:t>Correlation analysis and multiple linear regression were used to identify operational drivers of </a:t>
            </a:r>
            <a:r>
              <a:rPr lang="en-IN" dirty="0" err="1"/>
              <a:t>DefectRate</a:t>
            </a:r>
            <a:endParaRPr lang="en-IN" dirty="0"/>
          </a:p>
          <a:p>
            <a:pPr algn="just"/>
            <a:r>
              <a:rPr lang="en-IN" dirty="0"/>
              <a:t>Combined regression of key operational factors yielded R² = 0.0014, indicating these factors explain less than 1% of the variation in </a:t>
            </a:r>
            <a:r>
              <a:rPr lang="en-IN" dirty="0" err="1"/>
              <a:t>DefectRate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9C02D0-9248-8371-0964-F3E36FE8E6EF}"/>
              </a:ext>
            </a:extLst>
          </p:cNvPr>
          <p:cNvGraphicFramePr>
            <a:graphicFrameLocks noGrp="1"/>
          </p:cNvGraphicFramePr>
          <p:nvPr/>
        </p:nvGraphicFramePr>
        <p:xfrm>
          <a:off x="2498725" y="3728244"/>
          <a:ext cx="719455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3450">
                  <a:extLst>
                    <a:ext uri="{9D8B030D-6E8A-4147-A177-3AD203B41FA5}">
                      <a16:colId xmlns:a16="http://schemas.microsoft.com/office/drawing/2014/main" val="377621204"/>
                    </a:ext>
                  </a:extLst>
                </a:gridCol>
                <a:gridCol w="3721100">
                  <a:extLst>
                    <a:ext uri="{9D8B030D-6E8A-4147-A177-3AD203B41FA5}">
                      <a16:colId xmlns:a16="http://schemas.microsoft.com/office/drawing/2014/main" val="3977155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Correlation with </a:t>
                      </a:r>
                      <a:r>
                        <a:rPr lang="en-IN" sz="1600" dirty="0" err="1"/>
                        <a:t>DefectRate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01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QualityScore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-0.0363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90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AdditiveProcessTime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-0.0284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173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DeliveryDelay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-0.0230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11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ProductionVolume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-0.0194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361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ProductionCost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0.0144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0110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9207E81-ADC4-EC97-B51B-45DFC6C6B26F}"/>
              </a:ext>
            </a:extLst>
          </p:cNvPr>
          <p:cNvSpPr txBox="1"/>
          <p:nvPr/>
        </p:nvSpPr>
        <p:spPr>
          <a:xfrm>
            <a:off x="2498725" y="6026150"/>
            <a:ext cx="37210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/>
              <a:t>*Ranked factors by absolute correlation strength</a:t>
            </a:r>
          </a:p>
        </p:txBody>
      </p:sp>
    </p:spTree>
    <p:extLst>
      <p:ext uri="{BB962C8B-B14F-4D97-AF65-F5344CB8AC3E}">
        <p14:creationId xmlns:p14="http://schemas.microsoft.com/office/powerpoint/2010/main" val="2966268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0110D-0E85-9497-CB55-AE5481543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+mn-lt"/>
              </a:rPr>
              <a:t>ANALYZE</a:t>
            </a:r>
            <a:r>
              <a:rPr lang="en-IN" sz="4000" dirty="0"/>
              <a:t> - </a:t>
            </a:r>
            <a:r>
              <a:rPr lang="en-IN" sz="4000" b="1" dirty="0"/>
              <a:t>Logistic Regression on </a:t>
            </a:r>
            <a:r>
              <a:rPr lang="en-IN" sz="4000" b="1" dirty="0" err="1"/>
              <a:t>DefectStatus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61626-13BE-01FA-0EA2-B07FCE3DD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 err="1"/>
              <a:t>DefectRate</a:t>
            </a:r>
            <a:r>
              <a:rPr lang="en-IN" sz="2400" dirty="0"/>
              <a:t> showed no significant relationship with operational factors, </a:t>
            </a:r>
            <a:r>
              <a:rPr lang="en-IN" sz="2400" dirty="0" err="1"/>
              <a:t>DefectStatus</a:t>
            </a:r>
            <a:r>
              <a:rPr lang="en-IN" sz="2400" dirty="0"/>
              <a:t> was tested using logistic regression</a:t>
            </a:r>
          </a:p>
          <a:p>
            <a:pPr algn="just"/>
            <a:r>
              <a:rPr lang="en-IN" sz="2400" dirty="0" err="1"/>
              <a:t>MaintenanceHours</a:t>
            </a:r>
            <a:r>
              <a:rPr lang="en-IN" sz="2400" dirty="0"/>
              <a:t> (p&lt;0.001) and </a:t>
            </a:r>
            <a:r>
              <a:rPr lang="en-IN" sz="2400" dirty="0" err="1"/>
              <a:t>QualityScore</a:t>
            </a:r>
            <a:r>
              <a:rPr lang="en-IN" sz="2400" dirty="0"/>
              <a:t> (p&lt;0.001) both show statistically significant relationships with </a:t>
            </a:r>
            <a:r>
              <a:rPr lang="en-IN" sz="2400" dirty="0" err="1"/>
              <a:t>DefectStatus</a:t>
            </a:r>
            <a:r>
              <a:rPr lang="en-IN" sz="2400" dirty="0"/>
              <a:t> Pseudo R² = 0.156</a:t>
            </a:r>
          </a:p>
          <a:p>
            <a:pPr algn="just"/>
            <a:r>
              <a:rPr lang="en-IN" sz="2400" dirty="0" err="1"/>
              <a:t>MaintenanceHours</a:t>
            </a:r>
            <a:r>
              <a:rPr lang="en-IN" sz="2400" dirty="0"/>
              <a:t>: positive relationship (+0.139) likely reflects reverse causation (higher-risk lines receive more maintenance attention) rather than maintenance causing defects</a:t>
            </a:r>
          </a:p>
          <a:p>
            <a:pPr algn="just"/>
            <a:r>
              <a:rPr lang="en-IN" sz="2400" dirty="0" err="1"/>
              <a:t>QualityScore</a:t>
            </a:r>
            <a:r>
              <a:rPr lang="en-IN" sz="2400" dirty="0"/>
              <a:t>: negative relationship (-0.054) higher quality scores associate with lower likelihood of high-defect classification, as expected</a:t>
            </a:r>
          </a:p>
        </p:txBody>
      </p:sp>
    </p:spTree>
    <p:extLst>
      <p:ext uri="{BB962C8B-B14F-4D97-AF65-F5344CB8AC3E}">
        <p14:creationId xmlns:p14="http://schemas.microsoft.com/office/powerpoint/2010/main" val="1384035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DCD6E-7E65-651E-94FE-1B793CE5C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ANALYZE</a:t>
            </a:r>
            <a:r>
              <a:rPr lang="en-IN" dirty="0"/>
              <a:t> - </a:t>
            </a:r>
            <a:r>
              <a:rPr lang="en-IN" b="1" dirty="0"/>
              <a:t>Interpretation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78662-52DD-C302-2AA1-4446020C3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37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While </a:t>
            </a:r>
            <a:r>
              <a:rPr lang="en-IN" dirty="0" err="1"/>
              <a:t>DefectRate</a:t>
            </a:r>
            <a:r>
              <a:rPr lang="en-IN" dirty="0"/>
              <a:t> shows no significant driver, </a:t>
            </a:r>
            <a:r>
              <a:rPr lang="en-IN" dirty="0" err="1"/>
              <a:t>DefectStatus</a:t>
            </a:r>
            <a:r>
              <a:rPr lang="en-IN" dirty="0"/>
              <a:t> classification is meaningfully explained by </a:t>
            </a:r>
            <a:r>
              <a:rPr lang="en-IN" dirty="0" err="1"/>
              <a:t>MaintenanceHours</a:t>
            </a:r>
            <a:r>
              <a:rPr lang="en-IN" dirty="0"/>
              <a:t> and </a:t>
            </a:r>
            <a:r>
              <a:rPr lang="en-IN" dirty="0" err="1"/>
              <a:t>QualityScore</a:t>
            </a:r>
            <a:r>
              <a:rPr lang="en-IN" dirty="0"/>
              <a:t> (Pseudo R² = 0.156, p&lt;0.001).</a:t>
            </a:r>
          </a:p>
          <a:p>
            <a:pPr algn="just"/>
            <a:endParaRPr lang="en-IN" dirty="0"/>
          </a:p>
          <a:p>
            <a:pPr marL="0" indent="0" algn="just">
              <a:buNone/>
            </a:pPr>
            <a:r>
              <a:rPr lang="en-IN" dirty="0"/>
              <a:t>This suggests defect risk is better understood as a discrete quality outcome influenced by these factors, while defect intensity (rate) reflects broader process variability.</a:t>
            </a:r>
          </a:p>
        </p:txBody>
      </p:sp>
    </p:spTree>
    <p:extLst>
      <p:ext uri="{BB962C8B-B14F-4D97-AF65-F5344CB8AC3E}">
        <p14:creationId xmlns:p14="http://schemas.microsoft.com/office/powerpoint/2010/main" val="632255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67C3-0A85-D950-D5CD-3EC80F83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IMPROVE</a:t>
            </a:r>
            <a:r>
              <a:rPr lang="en-IN" dirty="0"/>
              <a:t> - </a:t>
            </a:r>
            <a:r>
              <a:rPr lang="en-IN" b="1" dirty="0"/>
              <a:t>Recommendations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7E27A7-E1BD-84DA-6822-0BB881FC22CC}"/>
              </a:ext>
            </a:extLst>
          </p:cNvPr>
          <p:cNvGraphicFramePr>
            <a:graphicFrameLocks noGrp="1"/>
          </p:cNvGraphicFramePr>
          <p:nvPr/>
        </p:nvGraphicFramePr>
        <p:xfrm>
          <a:off x="1784350" y="1690688"/>
          <a:ext cx="8623300" cy="4729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1650">
                  <a:extLst>
                    <a:ext uri="{9D8B030D-6E8A-4147-A177-3AD203B41FA5}">
                      <a16:colId xmlns:a16="http://schemas.microsoft.com/office/drawing/2014/main" val="1907009798"/>
                    </a:ext>
                  </a:extLst>
                </a:gridCol>
                <a:gridCol w="4311650">
                  <a:extLst>
                    <a:ext uri="{9D8B030D-6E8A-4147-A177-3AD203B41FA5}">
                      <a16:colId xmlns:a16="http://schemas.microsoft.com/office/drawing/2014/main" val="1309064682"/>
                    </a:ext>
                  </a:extLst>
                </a:gridCol>
              </a:tblGrid>
              <a:tr h="37812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Recommendation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411597"/>
                  </a:ext>
                </a:extLst>
              </a:tr>
              <a:tr h="1087759">
                <a:tc>
                  <a:txBody>
                    <a:bodyPr/>
                    <a:lstStyle/>
                    <a:p>
                      <a:r>
                        <a:rPr lang="en-IN" sz="1600" dirty="0" err="1"/>
                        <a:t>QualityScore</a:t>
                      </a:r>
                      <a:r>
                        <a:rPr lang="en-IN" sz="1600" dirty="0"/>
                        <a:t> negatively predicts defect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Strengthen in-process quality checks/inspection frequency to lift </a:t>
                      </a:r>
                      <a:r>
                        <a:rPr lang="en-IN" sz="1600" dirty="0" err="1"/>
                        <a:t>QualityScore</a:t>
                      </a:r>
                      <a:r>
                        <a:rPr lang="en-IN" sz="1600" dirty="0"/>
                        <a:t> directly reducing high-defect classification likelihood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82691"/>
                  </a:ext>
                </a:extLst>
              </a:tr>
              <a:tr h="1336390">
                <a:tc>
                  <a:txBody>
                    <a:bodyPr/>
                    <a:lstStyle/>
                    <a:p>
                      <a:r>
                        <a:rPr lang="en-IN" sz="1600" dirty="0" err="1"/>
                        <a:t>MaintenanceHours</a:t>
                      </a:r>
                      <a:r>
                        <a:rPr lang="en-IN" sz="1600" dirty="0"/>
                        <a:t> positively predicts defect status (likely reactive)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Shift from reactive to </a:t>
                      </a:r>
                      <a:r>
                        <a:rPr lang="en-IN" sz="1600" b="0" dirty="0"/>
                        <a:t>preventive/scheduled maintenance </a:t>
                      </a:r>
                      <a:r>
                        <a:rPr lang="en-IN" sz="1600" dirty="0"/>
                        <a:t>i.e., maintain lines on a fixed schedule rather than only when problems appear breaking the "high-risk line gets more maintenance" cycle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30437"/>
                  </a:ext>
                </a:extLst>
              </a:tr>
              <a:tr h="1087759">
                <a:tc>
                  <a:txBody>
                    <a:bodyPr/>
                    <a:lstStyle/>
                    <a:p>
                      <a:r>
                        <a:rPr lang="en-IN" sz="1600" dirty="0" err="1"/>
                        <a:t>DefectRate</a:t>
                      </a:r>
                      <a:r>
                        <a:rPr lang="en-IN" sz="1600" dirty="0"/>
                        <a:t> shows high variability, no single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Introduce </a:t>
                      </a:r>
                      <a:r>
                        <a:rPr lang="en-IN" sz="1600" b="0" dirty="0"/>
                        <a:t>Statistical Process Control (SPC)</a:t>
                      </a:r>
                      <a:r>
                        <a:rPr lang="en-IN" sz="1600" dirty="0"/>
                        <a:t> charts on </a:t>
                      </a:r>
                      <a:r>
                        <a:rPr lang="en-IN" sz="1600" dirty="0" err="1"/>
                        <a:t>DefectRate</a:t>
                      </a:r>
                      <a:r>
                        <a:rPr lang="en-IN" sz="1600" dirty="0"/>
                        <a:t> to catch abnormal spikes early and standardize operating procedures across lines/shifts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886877"/>
                  </a:ext>
                </a:extLst>
              </a:tr>
              <a:tr h="839128">
                <a:tc>
                  <a:txBody>
                    <a:bodyPr/>
                    <a:lstStyle/>
                    <a:p>
                      <a:r>
                        <a:rPr lang="en-IN" sz="1600" dirty="0"/>
                        <a:t>No defect-type/category data available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Recommend future data collection include defect type, machine ID and shift enabling deeper root-cause analysis going forward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779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285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A2D6-A348-C1CA-CFDE-427BA013E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IMPROVE</a:t>
            </a:r>
            <a:r>
              <a:rPr lang="en-IN" dirty="0"/>
              <a:t> - Prioritization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448BBB-DC3D-D4CF-227F-A325938BCF38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1913995"/>
          <a:ext cx="8686800" cy="2728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6350306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668176529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1997606718"/>
                    </a:ext>
                  </a:extLst>
                </a:gridCol>
              </a:tblGrid>
              <a:tr h="4228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Effort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75961"/>
                  </a:ext>
                </a:extLst>
              </a:tr>
              <a:tr h="422871">
                <a:tc>
                  <a:txBody>
                    <a:bodyPr/>
                    <a:lstStyle/>
                    <a:p>
                      <a:r>
                        <a:rPr lang="en-IN" dirty="0" err="1"/>
                        <a:t>QualityScore</a:t>
                      </a:r>
                      <a:r>
                        <a:rPr lang="en-IN" dirty="0"/>
                        <a:t>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200274"/>
                  </a:ext>
                </a:extLst>
              </a:tr>
              <a:tr h="729886">
                <a:tc>
                  <a:txBody>
                    <a:bodyPr/>
                    <a:lstStyle/>
                    <a:p>
                      <a:r>
                        <a:rPr lang="en-IN" dirty="0"/>
                        <a:t>Preventive maintenance 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633631"/>
                  </a:ext>
                </a:extLst>
              </a:tr>
              <a:tr h="422871">
                <a:tc>
                  <a:txBody>
                    <a:bodyPr/>
                    <a:lstStyle/>
                    <a:p>
                      <a:r>
                        <a:rPr lang="en-IN" dirty="0"/>
                        <a:t>SPC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647126"/>
                  </a:ext>
                </a:extLst>
              </a:tr>
              <a:tr h="729886">
                <a:tc>
                  <a:txBody>
                    <a:bodyPr/>
                    <a:lstStyle/>
                    <a:p>
                      <a:r>
                        <a:rPr lang="en-IN" dirty="0"/>
                        <a:t>Expanded 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 immediate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foundational for future projects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579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142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1F4C-7A42-1D4E-021C-711DDFD0D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650" y="1825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+mn-lt"/>
              </a:rPr>
              <a:t>IMPROVE</a:t>
            </a:r>
            <a:r>
              <a:rPr lang="en-IN" dirty="0"/>
              <a:t> - Expected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EA311-CE9A-F7A6-F79E-CC7807619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3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If implemented, these interventions are projected to reduce high-defect-status incidence and support progress toward the original goal of 84% → 60%. Actual impact to be validated through implementation and monitoring.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56BAF-E0E2-13E5-E670-AD7C1974F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335" y="3070611"/>
            <a:ext cx="3276000" cy="29595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BDB3C7-BD28-D20D-D3B7-EBF8F6159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70611"/>
            <a:ext cx="3276000" cy="295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263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0FDF2-B880-D8CF-0A31-ACB972BF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CONTROL</a:t>
            </a:r>
            <a:r>
              <a:rPr lang="en-IN" dirty="0"/>
              <a:t> - </a:t>
            </a:r>
            <a:r>
              <a:rPr lang="en-IN" b="1" dirty="0"/>
              <a:t>Control Plan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B20C8E-7F9C-6AC7-E086-48D9EE5EC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855246"/>
              </p:ext>
            </p:extLst>
          </p:nvPr>
        </p:nvGraphicFramePr>
        <p:xfrm>
          <a:off x="1231900" y="1690688"/>
          <a:ext cx="9728199" cy="3929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2733">
                  <a:extLst>
                    <a:ext uri="{9D8B030D-6E8A-4147-A177-3AD203B41FA5}">
                      <a16:colId xmlns:a16="http://schemas.microsoft.com/office/drawing/2014/main" val="2303947603"/>
                    </a:ext>
                  </a:extLst>
                </a:gridCol>
                <a:gridCol w="3242733">
                  <a:extLst>
                    <a:ext uri="{9D8B030D-6E8A-4147-A177-3AD203B41FA5}">
                      <a16:colId xmlns:a16="http://schemas.microsoft.com/office/drawing/2014/main" val="1010164473"/>
                    </a:ext>
                  </a:extLst>
                </a:gridCol>
                <a:gridCol w="3242733">
                  <a:extLst>
                    <a:ext uri="{9D8B030D-6E8A-4147-A177-3AD203B41FA5}">
                      <a16:colId xmlns:a16="http://schemas.microsoft.com/office/drawing/2014/main" val="1411984454"/>
                    </a:ext>
                  </a:extLst>
                </a:gridCol>
              </a:tblGrid>
              <a:tr h="38812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What to 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31181"/>
                  </a:ext>
                </a:extLst>
              </a:tr>
              <a:tr h="957011">
                <a:tc>
                  <a:txBody>
                    <a:bodyPr/>
                    <a:lstStyle/>
                    <a:p>
                      <a:r>
                        <a:rPr lang="en-IN" dirty="0"/>
                        <a:t>Overall Defect 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Average </a:t>
                      </a:r>
                      <a:r>
                        <a:rPr lang="en-IN" dirty="0" err="1"/>
                        <a:t>DefectRate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SPC (control) chart track weekly average, flag if it exceeds upper control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422218"/>
                  </a:ext>
                </a:extLst>
              </a:tr>
              <a:tr h="669908">
                <a:tc>
                  <a:txBody>
                    <a:bodyPr/>
                    <a:lstStyle/>
                    <a:p>
                      <a:r>
                        <a:rPr lang="en-IN" dirty="0"/>
                        <a:t>Defect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% High-defect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Trend line, monthly, with 60% target line marked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822937"/>
                  </a:ext>
                </a:extLst>
              </a:tr>
              <a:tr h="957011">
                <a:tc>
                  <a:txBody>
                    <a:bodyPr/>
                    <a:lstStyle/>
                    <a:p>
                      <a:r>
                        <a:rPr lang="en-IN" dirty="0"/>
                        <a:t>Quality Inspection Effectiveness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QualityScore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Monthly Average with alert threshold if it drops below current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825992"/>
                  </a:ext>
                </a:extLst>
              </a:tr>
              <a:tr h="957011">
                <a:tc>
                  <a:txBody>
                    <a:bodyPr/>
                    <a:lstStyle/>
                    <a:p>
                      <a:r>
                        <a:rPr lang="en-IN" dirty="0"/>
                        <a:t>Maintenance Practice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% Preventive vs Reactive Maintenance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Track ratio monthly to confirm shift away from reactive only 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502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377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B4CF4-13B0-3422-7E5B-6AEC4A5FD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CONTROL</a:t>
            </a:r>
            <a:r>
              <a:rPr lang="en-IN" dirty="0"/>
              <a:t> - </a:t>
            </a:r>
            <a:r>
              <a:rPr lang="en-IN" b="1" dirty="0"/>
              <a:t>Sustaining the Gains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DCE79-B52F-B911-5CE5-85932497E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Standardize the quality inspection checklist/process across lines</a:t>
            </a:r>
          </a:p>
          <a:p>
            <a:r>
              <a:rPr lang="en-IN" dirty="0"/>
              <a:t>Set a recurring review cadence for example monthly review of </a:t>
            </a:r>
            <a:r>
              <a:rPr lang="en-IN" dirty="0" err="1"/>
              <a:t>DefectRate</a:t>
            </a:r>
            <a:r>
              <a:rPr lang="en-IN" dirty="0"/>
              <a:t>/</a:t>
            </a:r>
            <a:r>
              <a:rPr lang="en-IN" dirty="0" err="1"/>
              <a:t>DefectStatus</a:t>
            </a:r>
            <a:r>
              <a:rPr lang="en-IN" dirty="0"/>
              <a:t> trend against targets</a:t>
            </a:r>
          </a:p>
          <a:p>
            <a:r>
              <a:rPr lang="en-IN" dirty="0"/>
              <a:t>Clear ownership to be assigned to line/quality supervisor upon implementation</a:t>
            </a:r>
          </a:p>
          <a:p>
            <a:r>
              <a:rPr lang="en-IN" dirty="0"/>
              <a:t>Future iterations should incorporate defect-type and machine-level data to enable deeper root-cause tracking</a:t>
            </a:r>
          </a:p>
        </p:txBody>
      </p:sp>
    </p:spTree>
    <p:extLst>
      <p:ext uri="{BB962C8B-B14F-4D97-AF65-F5344CB8AC3E}">
        <p14:creationId xmlns:p14="http://schemas.microsoft.com/office/powerpoint/2010/main" val="636949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55AA-657B-4CF3-B044-79E09696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Conclusion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10250-D0C3-D4A5-2767-0B26390A7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This project applied the DMAIC framework to diagnose high defect status in a manufacturing dataset (3,240 records)</a:t>
            </a:r>
          </a:p>
          <a:p>
            <a:pPr lvl="0"/>
            <a:r>
              <a:rPr lang="en-IN" dirty="0"/>
              <a:t>Analysis found no significant driver for defect rate (intensity) but identified </a:t>
            </a:r>
            <a:r>
              <a:rPr lang="en-IN" dirty="0" err="1"/>
              <a:t>MaintenanceHours</a:t>
            </a:r>
            <a:r>
              <a:rPr lang="en-IN" dirty="0"/>
              <a:t> and </a:t>
            </a:r>
            <a:r>
              <a:rPr lang="en-IN" dirty="0" err="1"/>
              <a:t>QualityScore</a:t>
            </a:r>
            <a:r>
              <a:rPr lang="en-IN" dirty="0"/>
              <a:t> as statistically significant drivers of defect status (classification), Pseudo R² = 0.156, p&lt;0.001</a:t>
            </a:r>
          </a:p>
          <a:p>
            <a:pPr lvl="0"/>
            <a:r>
              <a:rPr lang="en-IN" dirty="0"/>
              <a:t>Improve phase proposed targeted interventions (quality inspection, preventive maintenance, SPC monitoring) with a Control plan for sustaining results</a:t>
            </a:r>
          </a:p>
          <a:p>
            <a:pPr lvl="0"/>
            <a:r>
              <a:rPr lang="en-IN" b="1" dirty="0"/>
              <a:t>Scope note:</a:t>
            </a:r>
            <a:r>
              <a:rPr lang="en-IN" dirty="0"/>
              <a:t> as a self-initiated project on a static, synthetic dataset, this concludes at the recommendation and control-planning stage. Actual impact on defect rate/status would require live implementation and monitoring in a real production environment</a:t>
            </a:r>
          </a:p>
        </p:txBody>
      </p:sp>
    </p:spTree>
    <p:extLst>
      <p:ext uri="{BB962C8B-B14F-4D97-AF65-F5344CB8AC3E}">
        <p14:creationId xmlns:p14="http://schemas.microsoft.com/office/powerpoint/2010/main" val="1997381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1162</Words>
  <Application>Microsoft Office PowerPoint</Application>
  <PresentationFormat>Widescreen</PresentationFormat>
  <Paragraphs>168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Manufacturing Quality Improvement Through Defect Analysis and Process Improvement</vt:lpstr>
      <vt:lpstr>DEFINE - Problem &amp; Goal Statement</vt:lpstr>
      <vt:lpstr>DEFINE - Business Case</vt:lpstr>
      <vt:lpstr>DEFINE - CTQ (Critical to Quality) Tree</vt:lpstr>
      <vt:lpstr>DEFINE - SIPOC</vt:lpstr>
      <vt:lpstr>MEASURE - Data Collection Plan</vt:lpstr>
      <vt:lpstr>MEASURE - Baseline Performance</vt:lpstr>
      <vt:lpstr>MEASURE - Distribution Chart</vt:lpstr>
      <vt:lpstr>ANALYZE - Correlation &amp; Regression Findings</vt:lpstr>
      <vt:lpstr>ANALYZE - Logistic Regression on DefectStatus</vt:lpstr>
      <vt:lpstr>ANALYZE - Interpretation</vt:lpstr>
      <vt:lpstr>IMPROVE - Recommendations</vt:lpstr>
      <vt:lpstr>IMPROVE - Prioritization</vt:lpstr>
      <vt:lpstr>IMPROVE - Expected Impact</vt:lpstr>
      <vt:lpstr>CONTROL - Control Plan</vt:lpstr>
      <vt:lpstr>CONTROL - Sustaining the Gains</vt:lpstr>
      <vt:lpstr>Conclusion &amp;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Chitra Shree</dc:creator>
  <cp:lastModifiedBy>Chitra Shree</cp:lastModifiedBy>
  <cp:revision>3</cp:revision>
  <dcterms:created xsi:type="dcterms:W3CDTF">2026-10-02T03:54:03Z</dcterms:created>
  <dcterms:modified xsi:type="dcterms:W3CDTF">2026-10-02T08:02:16Z</dcterms:modified>
</cp:coreProperties>
</file>